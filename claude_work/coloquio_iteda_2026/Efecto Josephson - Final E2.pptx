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0deb742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0deb742c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310603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73106030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310603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973106030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3106030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731060307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3106030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731060307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3106030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731060307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3106030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731060307_0_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3106030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73106030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731060307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731060307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73106030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731060307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73106030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731060307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731060307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731060307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73106030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73106030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73106030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731060307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73106030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731060307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731060307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731060307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73106030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731060307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731060307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731060307_0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3106030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9731060307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73106030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731060307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73106030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731060307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731060307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731060307_0_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731060307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9731060307_0_4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731060307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731060307_0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731060307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9731060307_0_9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731060307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9731060307_0_9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731060307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9731060307_0_9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4225800" y="248375"/>
            <a:ext cx="101715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 u="sng">
                <a:latin typeface="Times New Roman"/>
                <a:ea typeface="Times New Roman"/>
                <a:cs typeface="Times New Roman"/>
                <a:sym typeface="Times New Roman"/>
              </a:rPr>
              <a:t>Efecto Josephson</a:t>
            </a:r>
            <a:endParaRPr b="1" sz="10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2853" y="7704577"/>
            <a:ext cx="2544210" cy="23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86966" y="7898914"/>
            <a:ext cx="1981636" cy="15071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561200" y="9334582"/>
            <a:ext cx="2833200" cy="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0400" lIns="130400" spcFirstLastPara="1" rIns="130400" wrap="square" tIns="130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9"/>
              <a:buFont typeface="Arial"/>
              <a:buNone/>
            </a:pPr>
            <a:r>
              <a:rPr b="1" i="0" lang="en-US" sz="142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Departamento de Física Facultad de Ciencias Exactas y Naturales Universidad de Buenos Aires</a:t>
            </a:r>
            <a:endParaRPr b="1" i="0" sz="142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9073" y="8226363"/>
            <a:ext cx="504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6000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Lautaro Silva</a:t>
            </a:r>
            <a:endParaRPr b="1" i="0" sz="6000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529261" y="7959638"/>
            <a:ext cx="7176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Estructura de la Materia 2</a:t>
            </a:r>
            <a:endParaRPr b="1"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Cuatrimestre de Verano 202</a:t>
            </a:r>
            <a:r>
              <a:rPr b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FCEyN Universidad de </a:t>
            </a:r>
            <a:r>
              <a:rPr b="1"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uenos Aires</a:t>
            </a:r>
            <a:endParaRPr b="1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055300" y="1940419"/>
            <a:ext cx="118179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Aplicaciones en Detectores de Alta Sensibilidad: SQUID’s y QUIBIC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3" title="unnam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88" y="2824338"/>
            <a:ext cx="9327037" cy="471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title="Qubic_instrument_shelter_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7966" y="2861426"/>
            <a:ext cx="7506441" cy="46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17300" y="2298500"/>
            <a:ext cx="134346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Empezamos con el Hamiltoniano de Fröhlich efectivo para electrones: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17300" y="2298500"/>
            <a:ext cx="134346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Empezamos con el Hamiltoniano de Fröhlich efectivo para electrones: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75" y="3429000"/>
            <a:ext cx="16809874" cy="20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17300" y="2298500"/>
            <a:ext cx="134346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Empezamos con el Hamiltoniano de Fröhlich efectivo para electrones: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75" y="3429000"/>
            <a:ext cx="16809874" cy="206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208950" y="6099581"/>
            <a:ext cx="180792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ve el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término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clave que se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usó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como punto de partida para el desarrollo de la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teoría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BCS: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												el potencial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resultaría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atractivo y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podrían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existir los estados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ligados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422" y="7143776"/>
            <a:ext cx="4770849" cy="78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6"/>
          <p:cNvCxnSpPr/>
          <p:nvPr/>
        </p:nvCxnSpPr>
        <p:spPr>
          <a:xfrm flipH="1" rot="10800000">
            <a:off x="4179100" y="4950608"/>
            <a:ext cx="3664800" cy="205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25" y="2884900"/>
            <a:ext cx="2844520" cy="176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3648675" y="2724150"/>
            <a:ext cx="145626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interacción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repulsiva Coulombiana puede ser superada por una atraccion mediada por la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interacción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electrón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fonón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da lugar a la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formación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estados ligados de dos electrones con 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espín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momento opuestos denominados 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pares de Cooper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925" y="2884900"/>
            <a:ext cx="2844520" cy="176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3648675" y="2724150"/>
            <a:ext cx="145626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interacción repulsiva Coulombiana puede ser superada por una atraccion mediada por la interacción electrón-fonón y da lugar a la formación de estados ligados de dos electrones con espín y momento opuestos denominados 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pares de Cooper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522150" y="6187675"/>
            <a:ext cx="172437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cálculo lo desarrolló Cooper en 1956 llegando a que la energía de ligadura del par es: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025" y="7377075"/>
            <a:ext cx="1119187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471450" y="2884875"/>
            <a:ext cx="173451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Todo esto 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permitió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describir a todo el ensamble de pares de Cooper en el superconductor mediante una 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única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onda 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cuántica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macroscópica: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u="sng">
                <a:latin typeface="Times New Roman"/>
                <a:ea typeface="Times New Roman"/>
                <a:cs typeface="Times New Roman"/>
                <a:sym typeface="Times New Roman"/>
              </a:rPr>
              <a:t>Superconductividad: Teoria BCS</a:t>
            </a:r>
            <a:endParaRPr b="1" sz="9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71450" y="2884875"/>
            <a:ext cx="173451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Todo esto permitió describir a todo el ensamble de pares de Cooper en el superconductor mediante una única función de onda cuántica macroscópica: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038" y="5311925"/>
            <a:ext cx="115919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 u="sng">
                <a:latin typeface="Times New Roman"/>
                <a:ea typeface="Times New Roman"/>
                <a:cs typeface="Times New Roman"/>
                <a:sym typeface="Times New Roman"/>
              </a:rPr>
              <a:t>Efecto Josephson</a:t>
            </a:r>
            <a:endParaRPr b="1" sz="10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166950" y="2724150"/>
            <a:ext cx="179541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1962, el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físico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Brian Josephson predijo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teóricamente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 los pares de Cooper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podrían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atravesar por efecto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túnel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una barrera delgada de material no superconductor que separa a dos superconductores: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 u="sng">
                <a:latin typeface="Times New Roman"/>
                <a:ea typeface="Times New Roman"/>
                <a:cs typeface="Times New Roman"/>
                <a:sym typeface="Times New Roman"/>
              </a:rPr>
              <a:t>Efecto Josephson</a:t>
            </a:r>
            <a:endParaRPr b="1" sz="10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166950" y="2724150"/>
            <a:ext cx="179541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1962, el físico Brian Josephson predijo teóricamente que los pares de Cooper podrían atravesar por efecto túnel una barrera delgada de material no superconductor que separa a dos superconductores: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22" title="unna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413" y="4415613"/>
            <a:ext cx="9327037" cy="47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ctrTitle"/>
          </p:nvPr>
        </p:nvSpPr>
        <p:spPr>
          <a:xfrm>
            <a:off x="517300" y="383700"/>
            <a:ext cx="168939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 u="sng">
                <a:latin typeface="Times New Roman"/>
                <a:ea typeface="Times New Roman"/>
                <a:cs typeface="Times New Roman"/>
                <a:sym typeface="Times New Roman"/>
              </a:rPr>
              <a:t>Efecto Josephson</a:t>
            </a:r>
            <a:endParaRPr b="1" sz="104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166950" y="2724150"/>
            <a:ext cx="179541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1962, el físico Brian Josephson predijo teóricamente que los pares de Cooper podrían atravesar por efecto túnel una barrera delgada de material no superconductor que separa a dos superconductores: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3" title="unna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413" y="4415613"/>
            <a:ext cx="9327037" cy="471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9853025" y="4415625"/>
            <a:ext cx="8435100" cy="50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estructura del tipo Superconductor-Aislante-Superconductor se conoce como una juntura Josephson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Dado que la barrera es lo suficientemente delgada las funciones de onda macroscópicas de los pares de Cooper a ambos lados no se anulan por completo en la interfaz, sino que decaen exponencialmente y se solapan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547800" y="3077775"/>
            <a:ext cx="17192400" cy="49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asumimos que la juntura es un sistema de dos estados debilmente acoplados, podemos describir a los superconductores 1 y 2 mediante sus respectivas funciones de onda macroscópicas Ψ1 y Ψ2.</a:t>
            </a:r>
            <a:b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547800" y="3077775"/>
            <a:ext cx="17192400" cy="49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asumimos que la juntura es un sistema de dos estados debilmente acoplados, podemos describir a los superconductores 1 y 2 mediante sus respectivas funciones de onda macroscópicas Ψ1 y Ψ2.</a:t>
            </a:r>
            <a:b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ausencia de acoplamiento, la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evolución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temporal de cada estado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estaría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dada por la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ecuación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Schrodinger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energías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U1 y U2 con un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término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transferencia o acoplamiento K: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013" y="6597811"/>
            <a:ext cx="7125975" cy="35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547800" y="2949188"/>
            <a:ext cx="171924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Reemplazando por nuestras funciones de onda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macroscópicas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 las regiones 1 y 2 en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términos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las densidades de pares n1 y n2 y sus respectivas fases: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547800" y="2949188"/>
            <a:ext cx="171924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Reemplazando por nuestras funciones de onda macroscópicas en las regiones 1 y 2 en términos de las densidades de pares n1 y n2 y sus respectivas fases: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575" y="4195156"/>
            <a:ext cx="11227191" cy="1680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547800" y="2949188"/>
            <a:ext cx="171924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Reemplazando por nuestras funciones de onda macroscópicas en las regiones 1 y 2 en términos de las densidades de pares n1 y n2 y sus respectivas fases: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575" y="4195156"/>
            <a:ext cx="11227191" cy="168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64396" y="5601704"/>
            <a:ext cx="1135379" cy="64599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 txBox="1"/>
          <p:nvPr/>
        </p:nvSpPr>
        <p:spPr>
          <a:xfrm>
            <a:off x="15023402" y="5561921"/>
            <a:ext cx="505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00" lIns="93700" spcFirstLastPara="1" rIns="93700" wrap="square" tIns="9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435"/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362" y="6034546"/>
            <a:ext cx="8814891" cy="16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/>
          <p:nvPr/>
        </p:nvSpPr>
        <p:spPr>
          <a:xfrm>
            <a:off x="13077152" y="5101105"/>
            <a:ext cx="1658383" cy="1647212"/>
          </a:xfrm>
          <a:custGeom>
            <a:rect b="b" l="l" r="r" t="t"/>
            <a:pathLst>
              <a:path extrusionOk="0" h="64294" w="64730">
                <a:moveTo>
                  <a:pt x="38576" y="0"/>
                </a:moveTo>
                <a:cubicBezTo>
                  <a:pt x="42755" y="5787"/>
                  <a:pt x="70080" y="24003"/>
                  <a:pt x="63651" y="34719"/>
                </a:cubicBezTo>
                <a:cubicBezTo>
                  <a:pt x="57222" y="45435"/>
                  <a:pt x="10609" y="59365"/>
                  <a:pt x="0" y="64294"/>
                </a:cubicBezTo>
              </a:path>
            </a:pathLst>
          </a:custGeom>
          <a:noFill/>
          <a:ln cap="flat" cmpd="sng" w="3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Efecto Josephson: Modelo de dos estados de Feynman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547800" y="2949188"/>
            <a:ext cx="171924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Reemplazando por nuestras funciones de onda macroscópicas en las regiones 1 y 2 en términos de las densidades de pares n1 y n2 y sus respectivas fases: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575" y="4195156"/>
            <a:ext cx="11227191" cy="168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64396" y="5601704"/>
            <a:ext cx="1135379" cy="64599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/>
        </p:nvSpPr>
        <p:spPr>
          <a:xfrm>
            <a:off x="15023402" y="5561921"/>
            <a:ext cx="505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00" lIns="93700" spcFirstLastPara="1" rIns="93700" wrap="square" tIns="9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435"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362" y="6034546"/>
            <a:ext cx="8814891" cy="1680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/>
          <p:nvPr/>
        </p:nvSpPr>
        <p:spPr>
          <a:xfrm>
            <a:off x="13077152" y="5101105"/>
            <a:ext cx="1658383" cy="1647212"/>
          </a:xfrm>
          <a:custGeom>
            <a:rect b="b" l="l" r="r" t="t"/>
            <a:pathLst>
              <a:path extrusionOk="0" h="64294" w="64730">
                <a:moveTo>
                  <a:pt x="38576" y="0"/>
                </a:moveTo>
                <a:cubicBezTo>
                  <a:pt x="42755" y="5787"/>
                  <a:pt x="70080" y="24003"/>
                  <a:pt x="63651" y="34719"/>
                </a:cubicBezTo>
                <a:cubicBezTo>
                  <a:pt x="57222" y="45435"/>
                  <a:pt x="10609" y="59365"/>
                  <a:pt x="0" y="64294"/>
                </a:cubicBezTo>
              </a:path>
            </a:pathLst>
          </a:custGeom>
          <a:noFill/>
          <a:ln cap="flat" cmpd="sng" w="3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214" name="Google Shape;21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4125" y="7802500"/>
            <a:ext cx="2844520" cy="176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6875" y="7715250"/>
            <a:ext cx="11227201" cy="25266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387418" y="7948526"/>
            <a:ext cx="1541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00" lIns="93700" spcFirstLastPara="1" rIns="93700" wrap="square" tIns="9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 </a:t>
            </a:r>
            <a:endParaRPr sz="1435"/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7425" y="8615740"/>
            <a:ext cx="2863784" cy="7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Primera </a:t>
            </a: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Ecuación</a:t>
            </a: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 de Josephson (Efecto DC)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la parte imaginaria podemos despejar la tasa de cambio en la densidad de pares de Cooper en el superconductor 1: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475" y="3810644"/>
            <a:ext cx="5171746" cy="15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Primera Ecuación de Josephson (Efecto DC)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la parte imaginaria podemos despejar la tasa de cambio en la densidad de pares de Cooper en el superconductor 1: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Realizando un desarrollo análogo para la Ecuación con la derivada temporal de Ψ2 , se llega a que 					 lo cual refleja la conservación de la carga.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475" y="3810644"/>
            <a:ext cx="5171746" cy="15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975" y="6156125"/>
            <a:ext cx="2151676" cy="6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Primera Ecuación de Josephson (Efecto DC)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la parte imaginaria podemos despejar la tasa de cambio en la densidad de pares de Cooper en el superconductor 1: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Realizando un desarrollo análogo para la Ecuación con la derivada temporal de Ψ2 , se llega a que 					 lo cual refleja la conservación de la carga.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475" y="3810644"/>
            <a:ext cx="5171746" cy="15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975" y="6156125"/>
            <a:ext cx="2151676" cy="6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6450" y="7951450"/>
            <a:ext cx="2844520" cy="176375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1030350" y="7512025"/>
            <a:ext cx="56961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3700" lIns="93700" spcFirstLastPara="1" rIns="93700" wrap="square" tIns="93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Dado que la corriente eléctrica de </a:t>
            </a: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supertúnel</a:t>
            </a: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directamente</a:t>
            </a:r>
            <a:endParaRPr sz="348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proporcional a la tasa de transferencia de pares</a:t>
            </a:r>
            <a:endParaRPr sz="348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70970" y="7048000"/>
            <a:ext cx="8412229" cy="239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5061" y="9284050"/>
            <a:ext cx="7725142" cy="7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Segunda </a:t>
            </a: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Ecuación de Josephson (Efecto AC)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analizamos la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dinámica usando nuevamente que                   llegamos a: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0975" y="3083090"/>
            <a:ext cx="1684251" cy="469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Segunda Ecuación de Josephson (Efecto AC)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analizamos la dinámica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usando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nuevamente que                   llegamos a: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0975" y="3083090"/>
            <a:ext cx="1684251" cy="46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762" y="3726200"/>
            <a:ext cx="5021475" cy="13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Segunda Ecuación de Josephson (Efecto AC)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analizamos la dinámica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usando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nuevamente que                   llegamos a: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aplicamos una diferencia de potencial eléctrico continua V a través de la juntura, la diferencia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energia potencial entre los pares de Cooper (que tienen carga q = 2e) a ambos lados sera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U1 − U2 = 2eV. Sustituyendo esto: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0975" y="3083090"/>
            <a:ext cx="1684251" cy="46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762" y="3726200"/>
            <a:ext cx="5021475" cy="13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Segunda Ecuación de Josephson (Efecto AC)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analizamos la dinámica usando nuevamente que                   llegamos a: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aplicamos una diferencia de potencial eléctrico continua V a través de la juntura, la diferencia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energia potencial entre los pares de Cooper (que tienen carga q = 2e) a ambos lados sera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U1 − U2 = 2eV. Sustituyendo esto: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0975" y="3083090"/>
            <a:ext cx="1684251" cy="46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762" y="3726200"/>
            <a:ext cx="5021475" cy="1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25" y="7008025"/>
            <a:ext cx="5623301" cy="19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/>
          <p:nvPr/>
        </p:nvSpPr>
        <p:spPr>
          <a:xfrm>
            <a:off x="6406275" y="6879516"/>
            <a:ext cx="115155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 tenemos el cuanto de flujo magnético Φ0. Si integramos y reemplazamos en la primera ecuación de Josephson llegamos a: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Segunda Ecuación de Josephson (Efecto AC)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47800" y="2949225"/>
            <a:ext cx="171924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analizamos la dinámica usando nuevamente que                   llegamos a: 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					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 aplicamos una diferencia de potencial eléctrico continua V a través de la juntura, la diferencia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energia potencial entre los pares de Cooper (que tienen carga q = 2e) a ambos lados sera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U1 − U2 = 2eV. Sustituyendo esto: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0975" y="3083090"/>
            <a:ext cx="1684251" cy="469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762" y="3726200"/>
            <a:ext cx="5021475" cy="1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25" y="7008025"/>
            <a:ext cx="5623301" cy="19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/>
        </p:nvSpPr>
        <p:spPr>
          <a:xfrm>
            <a:off x="6406275" y="6879516"/>
            <a:ext cx="115155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 tenemos el cuanto de flujo magnético Φ0. Si integramos y reemplazamos en la primera ecuación de Josephson llegamos a: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" name="Google Shape;28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6426" y="8381966"/>
            <a:ext cx="102298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 Interferencia Cuántica Macroscópica: El DC SQUID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38" title="squ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5" y="3674650"/>
            <a:ext cx="7498150" cy="5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8"/>
          <p:cNvSpPr txBox="1"/>
          <p:nvPr/>
        </p:nvSpPr>
        <p:spPr>
          <a:xfrm>
            <a:off x="8286875" y="3021900"/>
            <a:ext cx="100011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presencia de un flujo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magnético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externo Φ que atraviesa el anillo, la diferencia de fase entre las dos junturas no es independiente y queda: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ctrTitle"/>
          </p:nvPr>
        </p:nvSpPr>
        <p:spPr>
          <a:xfrm>
            <a:off x="387425" y="0"/>
            <a:ext cx="16893900" cy="2638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00" u="sng">
                <a:latin typeface="Times New Roman"/>
                <a:ea typeface="Times New Roman"/>
                <a:cs typeface="Times New Roman"/>
                <a:sym typeface="Times New Roman"/>
              </a:rPr>
              <a:t> Interferencia Cuántica Macroscópica: El DC SQUID</a:t>
            </a:r>
            <a:endParaRPr b="1" sz="8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39" title="squ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5" y="3674650"/>
            <a:ext cx="7498150" cy="5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9" title="modul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5275" y="6884200"/>
            <a:ext cx="5572125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 txBox="1"/>
          <p:nvPr/>
        </p:nvSpPr>
        <p:spPr>
          <a:xfrm>
            <a:off x="8286875" y="3021900"/>
            <a:ext cx="100011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presencia de un flujo magnético externo Φ que atraviesa el anillo, la diferencia de fase entre las dos junturas no es independiente y queda: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54525" y="4789875"/>
            <a:ext cx="5821826" cy="15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ctrTitle"/>
          </p:nvPr>
        </p:nvSpPr>
        <p:spPr>
          <a:xfrm>
            <a:off x="387425" y="0"/>
            <a:ext cx="16893900" cy="149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0" u="sng">
                <a:latin typeface="Times New Roman"/>
                <a:ea typeface="Times New Roman"/>
                <a:cs typeface="Times New Roman"/>
                <a:sym typeface="Times New Roman"/>
              </a:rPr>
              <a:t>SQUIDs en QUBIC</a:t>
            </a:r>
            <a:endParaRPr b="1" sz="98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40" title="Qubic_instrument_shelter_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16" y="2009526"/>
            <a:ext cx="7506441" cy="46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0" title="Cosmic_Microwave_Background_(CMB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0957" y="4974500"/>
            <a:ext cx="9900344" cy="49501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0"/>
          <p:cNvSpPr/>
          <p:nvPr/>
        </p:nvSpPr>
        <p:spPr>
          <a:xfrm>
            <a:off x="4377328" y="5460946"/>
            <a:ext cx="5475675" cy="3492400"/>
          </a:xfrm>
          <a:custGeom>
            <a:rect b="b" l="l" r="r" t="t"/>
            <a:pathLst>
              <a:path extrusionOk="0" h="139696" w="219027">
                <a:moveTo>
                  <a:pt x="219028" y="97244"/>
                </a:moveTo>
                <a:cubicBezTo>
                  <a:pt x="194382" y="103888"/>
                  <a:pt x="106514" y="151036"/>
                  <a:pt x="71152" y="137106"/>
                </a:cubicBezTo>
                <a:cubicBezTo>
                  <a:pt x="35790" y="123176"/>
                  <a:pt x="18431" y="36165"/>
                  <a:pt x="6858" y="13662"/>
                </a:cubicBezTo>
                <a:cubicBezTo>
                  <a:pt x="-4715" y="-8841"/>
                  <a:pt x="2572" y="4019"/>
                  <a:pt x="1715" y="2090"/>
                </a:cubicBezTo>
              </a:path>
            </a:pathLst>
          </a:custGeom>
          <a:noFill/>
          <a:ln cap="flat" cmpd="sng" w="762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3" name="Google Shape;313;p40"/>
          <p:cNvSpPr txBox="1"/>
          <p:nvPr/>
        </p:nvSpPr>
        <p:spPr>
          <a:xfrm>
            <a:off x="1327075" y="8197475"/>
            <a:ext cx="4080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Foton de 4K del CMB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